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5" r:id="rId7"/>
    <p:sldId id="278" r:id="rId8"/>
    <p:sldId id="281" r:id="rId9"/>
    <p:sldId id="279" r:id="rId10"/>
    <p:sldId id="264"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hyperlink" Target="https://github.com/Aditya8369/Smart-Study-Generator-Agen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ctr" rtl="0">
                        <a:spcBef>
                          <a:spcPts val="0"/>
                        </a:spcBef>
                        <a:spcAft>
                          <a:spcPts val="0"/>
                        </a:spcAft>
                        <a:buNone/>
                      </a:pPr>
                      <a:r>
                        <a:rPr lang="en-US"/>
                        <a:t>Aditya Mahajan</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a:t>mahajan2005aditya@gmail.com</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a:t>8432684549</a:t>
                      </a:r>
                      <a:endParaRPr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a:t>Domain of  Project – </a:t>
            </a:r>
            <a:r>
              <a:rPr lang="en-US" sz="2400" b="1">
                <a:highlight>
                  <a:srgbClr val="FFFF00"/>
                </a:highlight>
              </a:rPr>
              <a:t>Education</a:t>
            </a:r>
            <a:endParaRPr lang="en-IN" sz="2400" b="1">
              <a:highlight>
                <a:srgbClr val="FFFF00"/>
              </a:highlight>
            </a:endParaRPr>
          </a:p>
        </p:txBody>
      </p:sp>
      <p:sp>
        <p:nvSpPr>
          <p:cNvPr id="7" name="TextBox 6"/>
          <p:cNvSpPr txBox="1"/>
          <p:nvPr/>
        </p:nvSpPr>
        <p:spPr>
          <a:xfrm>
            <a:off x="1206162" y="551965"/>
            <a:ext cx="9581177" cy="460375"/>
          </a:xfrm>
          <a:prstGeom prst="rect">
            <a:avLst/>
          </a:prstGeom>
          <a:noFill/>
        </p:spPr>
        <p:txBody>
          <a:bodyPr wrap="square" rtlCol="0">
            <a:spAutoFit/>
          </a:bodyPr>
          <a:lstStyle/>
          <a:p>
            <a:r>
              <a:rPr lang="en-US" sz="2400" b="1"/>
              <a:t>Project Tile – </a:t>
            </a:r>
            <a:r>
              <a:rPr lang="en-US" sz="2400" b="1">
                <a:highlight>
                  <a:srgbClr val="FFFF00"/>
                </a:highlight>
              </a:rPr>
              <a:t>Smart Study Generator Agent</a:t>
            </a:r>
            <a:endParaRPr lang="en-IN" sz="2400" b="1">
              <a:highlight>
                <a:srgbClr val="FFFF00"/>
              </a:highlight>
            </a:endParaRPr>
          </a:p>
        </p:txBody>
      </p:sp>
      <p:sp>
        <p:nvSpPr>
          <p:cNvPr id="3" name="TextBox 2"/>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endParaRPr lang="en-US" sz="2000">
              <a:solidFill>
                <a:srgbClr val="FF0000"/>
              </a:solidFill>
            </a:endParaRPr>
          </a:p>
          <a:p>
            <a:r>
              <a:rPr lang="en-US" sz="2000">
                <a:solidFill>
                  <a:srgbClr val="FF0000"/>
                </a:solidFill>
              </a:rPr>
              <a:t>Font Size (Content): 20</a:t>
            </a:r>
            <a:endParaRPr lang="en-US" sz="2000">
              <a:solidFill>
                <a:srgbClr val="FF0000"/>
              </a:solidFill>
            </a:endParaRPr>
          </a:p>
        </p:txBody>
      </p:sp>
      <p:pic>
        <p:nvPicPr>
          <p:cNvPr id="2" name="Picture 1" descr="photo"/>
          <p:cNvPicPr>
            <a:picLocks noChangeAspect="1"/>
          </p:cNvPicPr>
          <p:nvPr/>
        </p:nvPicPr>
        <p:blipFill>
          <a:blip r:embed="rId1"/>
          <a:stretch>
            <a:fillRect/>
          </a:stretch>
        </p:blipFill>
        <p:spPr>
          <a:xfrm>
            <a:off x="4114800" y="3581400"/>
            <a:ext cx="789940" cy="11671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184650"/>
          </a:xfrm>
          <a:prstGeom prst="rect">
            <a:avLst/>
          </a:prstGeom>
          <a:noFill/>
        </p:spPr>
        <p:txBody>
          <a:bodyPr wrap="square" rtlCol="0">
            <a:spAutoFit/>
          </a:bodyPr>
          <a:lstStyle/>
          <a:p>
            <a:pPr fontAlgn="base"/>
            <a:r>
              <a:rPr lang="en-US" b="1"/>
              <a:t>Problem Statement : </a:t>
            </a:r>
            <a:r>
              <a:rPr lang="en-US" altLang="en-US" b="1"/>
              <a:t>Social Media Agent</a:t>
            </a:r>
            <a:endParaRPr lang="en-US" altLang="en-US" b="1"/>
          </a:p>
          <a:p>
            <a:pPr fontAlgn="base"/>
            <a:endParaRPr lang="en-US" altLang="en-US" b="1"/>
          </a:p>
          <a:p>
            <a:pPr fontAlgn="base"/>
            <a:r>
              <a:rPr lang="en-US" b="1"/>
              <a:t>The Challenge</a:t>
            </a:r>
            <a:r>
              <a:rPr lang="en-US"/>
              <a:t> </a:t>
            </a:r>
            <a:endParaRPr lang="en-US"/>
          </a:p>
          <a:p>
            <a:pPr fontAlgn="base"/>
            <a:r>
              <a:rPr lang="en-US" altLang="en-US"/>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analyze, predict, and recommend actions in real time.</a:t>
            </a:r>
            <a:endParaRPr lang="en-US" altLang="en-US"/>
          </a:p>
          <a:p>
            <a:pPr fontAlgn="base"/>
            <a:endParaRPr lang="en-US" altLang="en-US"/>
          </a:p>
          <a:p>
            <a:pPr fontAlgn="base"/>
            <a:r>
              <a:rPr lang="en-US" b="1"/>
              <a:t>The Objective</a:t>
            </a:r>
            <a:r>
              <a:rPr lang="en-US"/>
              <a:t> </a:t>
            </a:r>
            <a:endParaRPr lang="en-US"/>
          </a:p>
          <a:p>
            <a:pPr fontAlgn="base"/>
            <a:r>
              <a:rPr lang="en-US" altLang="en-US"/>
              <a:t>Build an agentic AI application that acts as an intelligent social media companion. The solution should:</a:t>
            </a:r>
            <a:endParaRPr lang="en-US" altLang="en-US"/>
          </a:p>
          <a:p>
            <a:pPr fontAlgn="base"/>
            <a:endParaRPr lang="en-US" altLang="en-US"/>
          </a:p>
          <a:p>
            <a:pPr fontAlgn="base"/>
            <a:r>
              <a:rPr lang="en-US" altLang="en-US"/>
              <a:t>1.Fuse Multichannel Data :- Collect and synthesize content, comments, hashtags, and competitor posts from platforms like X, LinkedIn, Instagram, and Facebook into unified insights.</a:t>
            </a:r>
            <a:endParaRPr lang="en-US" altLang="en-US"/>
          </a:p>
          <a:p>
            <a:pPr fontAlgn="base"/>
            <a:r>
              <a:rPr lang="en-US" altLang="en-US"/>
              <a:t>2.Enable Multimodal Interaction :- Accept user inputs (text, images, or voice prompts) and generate creative post drafts, captions, or campaign ideas aligned with brand tone.</a:t>
            </a:r>
            <a:endParaRPr lang="en-US" altLang="en-US"/>
          </a:p>
          <a:p>
            <a:pPr fontAlgn="base"/>
            <a:r>
              <a:rPr lang="en-US" altLang="en-US"/>
              <a:t>3.Create a Predictive &amp; Agentic Layer :- Forecast trending hashtags, audience sentiment shifts, and competitor engagement patterns while suggesting the best posting schedules.</a:t>
            </a:r>
            <a:endParaRPr lang="en-US" altLang="en-US"/>
          </a:p>
          <a:p>
            <a:r>
              <a:rPr lang="en-US" altLang="en-US"/>
              <a:t>4.Visualize Social Media Pulse :- Provide a dashboard with real-time analytics—engagement trends, influencer mapping, sentiment tracking, and campaign performance forecasts.</a:t>
            </a:r>
            <a:endParaRPr lang="en-US" altLang="en-US"/>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184650"/>
          </a:xfrm>
          <a:prstGeom prst="rect">
            <a:avLst/>
          </a:prstGeom>
          <a:noFill/>
        </p:spPr>
        <p:txBody>
          <a:bodyPr wrap="square" rtlCol="0">
            <a:spAutoFit/>
          </a:bodyPr>
          <a:lstStyle/>
          <a:p>
            <a:pPr fontAlgn="base"/>
            <a:endParaRPr lang="en-US" b="1"/>
          </a:p>
          <a:p>
            <a:r>
              <a:rPr lang="en-US" b="1"/>
              <a:t>Proposed Solution: Smart Study Generator Agent</a:t>
            </a:r>
            <a:endParaRPr lang="en-US" b="1"/>
          </a:p>
          <a:p>
            <a:endParaRPr lang="en-US" b="1"/>
          </a:p>
          <a:p>
            <a:endParaRPr lang="en-US" b="1"/>
          </a:p>
          <a:p>
            <a:r>
              <a:rPr lang="en-US" altLang="en-US"/>
              <a:t>The Smart Study Generator Agent is an AI-powered educational assistant that automatically generates personalized study materials from user-provided content such as PDFs, notes, textbooks, PowerPoint presentations, or topic names. The solution is built using IBM BOB (Builder on watsonx) with Langflow for designing the agent workflow and integrating multiple AI components.</a:t>
            </a:r>
            <a:endParaRPr lang="en-US" altLang="en-US"/>
          </a:p>
          <a:p>
            <a:endParaRPr lang="en-US" altLang="en-US"/>
          </a:p>
          <a:p>
            <a:r>
              <a:rPr lang="en-US" altLang="en-US"/>
              <a:t>Unlike a traditional chatbot that simply answers questions, this solution acts as an agentic AI system capable of understanding learning objectives, planning study content, retrieving information, generating learning resources, and continuously adapting to user requirements.</a:t>
            </a:r>
            <a:endParaRPr lang="en-US" altLang="en-US"/>
          </a:p>
          <a:p>
            <a:endParaRPr lang="en-IN"/>
          </a:p>
          <a:p>
            <a:r>
              <a:rPr lang="en-US" altLang="en-US"/>
              <a:t>Working Process</a:t>
            </a:r>
            <a:endParaRPr lang="en-US" altLang="en-US"/>
          </a:p>
          <a:p>
            <a:r>
              <a:rPr lang="en-US" altLang="en-US"/>
              <a:t>Step 1: User Input</a:t>
            </a:r>
            <a:endParaRPr lang="en-US" altLang="en-US"/>
          </a:p>
          <a:p>
            <a:r>
              <a:rPr lang="en-US" altLang="en-US"/>
              <a:t>Step 2: Content Processing</a:t>
            </a:r>
            <a:endParaRPr lang="en-US" altLang="en-US"/>
          </a:p>
          <a:p>
            <a:r>
              <a:rPr lang="en-US" altLang="en-US"/>
              <a:t>Step 3: Intelligent Retrieval</a:t>
            </a:r>
            <a:endParaRPr lang="en-US" altLang="en-US"/>
          </a:p>
          <a:p>
            <a:r>
              <a:rPr lang="en-US" altLang="en-US"/>
              <a:t>Step 4: AI Study Material Generation</a:t>
            </a:r>
            <a:endParaRPr lang="en-US" altLang="en-US"/>
          </a:p>
          <a:p>
            <a:r>
              <a:rPr lang="en-US" altLang="en-US"/>
              <a:t>Step 5: Personalized Learning</a:t>
            </a:r>
            <a:endParaRPr lang="en-US" altLang="en-US"/>
          </a:p>
          <a:p>
            <a:r>
              <a:rPr lang="en-US" altLang="en-US"/>
              <a:t>Step 6: Continuous Interaction</a:t>
            </a:r>
            <a:endParaRPr lang="en-US" altLang="en-US"/>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p:cNvSpPr txBox="1"/>
          <p:nvPr/>
        </p:nvSpPr>
        <p:spPr>
          <a:xfrm>
            <a:off x="777240" y="1207008"/>
            <a:ext cx="10515600" cy="495427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US" altLang="en-US" sz="1800" b="1"/>
          </a:p>
          <a:p>
            <a:pPr marL="285750" indent="-285750">
              <a:buFont typeface="Arial" panose="020B0604020202020204" pitchFamily="34" charset="0"/>
              <a:buChar char="•"/>
            </a:pPr>
            <a:r>
              <a:rPr lang="en-US" altLang="en-US" sz="1800" b="1"/>
              <a:t>IBM BOB (Builder on watsonx)- </a:t>
            </a:r>
            <a:r>
              <a:rPr lang="en-US" altLang="en-US" sz="1800"/>
              <a:t>It provides Low-code AI agent development, Workflow automation, Integration with IBM Granite models,  Agent orchestration, Tool calling, Deployment support.</a:t>
            </a:r>
            <a:endParaRPr lang="en-US" altLang="en-US" sz="1800"/>
          </a:p>
          <a:p>
            <a:pPr marL="285750" indent="-285750">
              <a:buFont typeface="Arial" panose="020B0604020202020204" pitchFamily="34" charset="0"/>
              <a:buChar char="•"/>
            </a:pPr>
            <a:endParaRPr lang="en-US" altLang="en-US" sz="1800" b="1"/>
          </a:p>
          <a:p>
            <a:pPr marL="285750" indent="-285750">
              <a:buFont typeface="Arial" panose="020B0604020202020204" pitchFamily="34" charset="0"/>
              <a:buChar char="•"/>
            </a:pPr>
            <a:r>
              <a:rPr lang="en-US" altLang="en-US" sz="1800" b="1"/>
              <a:t>Embedding Model- </a:t>
            </a:r>
            <a:r>
              <a:rPr lang="en-US" altLang="en-US" sz="1800"/>
              <a:t>Converts text into vector representations.</a:t>
            </a:r>
            <a:endParaRPr lang="en-US" altLang="en-US" sz="1800"/>
          </a:p>
          <a:p>
            <a:pPr marL="285750" indent="-285750">
              <a:buFont typeface="Arial" panose="020B0604020202020204" pitchFamily="34" charset="0"/>
              <a:buChar char="•"/>
            </a:pPr>
            <a:endParaRPr lang="en-US" altLang="en-US" sz="1800" b="1"/>
          </a:p>
          <a:p>
            <a:pPr marL="285750" indent="-285750">
              <a:buFont typeface="Arial" panose="020B0604020202020204" pitchFamily="34" charset="0"/>
              <a:buChar char="•"/>
            </a:pPr>
            <a:r>
              <a:rPr lang="en-US" altLang="en-US" sz="1800" b="1"/>
              <a:t>Retrieval-Augmented Generation (RAG)- </a:t>
            </a:r>
            <a:r>
              <a:rPr lang="en-US" altLang="en-US" sz="1800"/>
              <a:t>Provides More accurate responses, Reduced hallucinations, Document-grounded answers, Better factual correctness</a:t>
            </a:r>
            <a:endParaRPr lang="en-US" altLang="en-US" sz="1800"/>
          </a:p>
          <a:p>
            <a:pPr marL="285750" indent="-285750">
              <a:buFont typeface="Arial" panose="020B0604020202020204" pitchFamily="34" charset="0"/>
              <a:buChar char="•"/>
            </a:pPr>
            <a:endParaRPr lang="en-US" altLang="en-US" sz="1800"/>
          </a:p>
          <a:p>
            <a:pPr marL="285750" indent="-285750">
              <a:buFont typeface="Arial" panose="020B0604020202020204" pitchFamily="34" charset="0"/>
              <a:buChar char="•"/>
            </a:pPr>
            <a:r>
              <a:rPr lang="en-US" altLang="en-US" sz="1800"/>
              <a:t> </a:t>
            </a:r>
            <a:r>
              <a:rPr lang="en-US" altLang="en-US" sz="1800" b="1"/>
              <a:t>Prompt Engineering- </a:t>
            </a:r>
            <a:r>
              <a:rPr lang="en-US" altLang="en-US" sz="1800"/>
              <a:t>Carefully designed prompts instruct the LLM to generate: Educational content, Exams, Summaries Flashcards, Revision notes.</a:t>
            </a:r>
            <a:endParaRPr lang="en-US" altLang="en-US" sz="1800"/>
          </a:p>
          <a:p>
            <a:pPr marL="285750" indent="-285750">
              <a:buFont typeface="Arial" panose="020B0604020202020204" pitchFamily="34" charset="0"/>
              <a:buChar char="•"/>
            </a:pPr>
            <a:endParaRPr lang="en-US" altLang="en-US" sz="1800" b="1"/>
          </a:p>
          <a:p>
            <a:pPr marL="285750" indent="-285750">
              <a:buFont typeface="Arial" panose="020B0604020202020204" pitchFamily="34" charset="0"/>
              <a:buChar char="•"/>
            </a:pPr>
            <a:r>
              <a:rPr lang="en-US" altLang="en-US" sz="1800" b="1"/>
              <a:t>Optional Integrations- </a:t>
            </a:r>
            <a:r>
              <a:rPr lang="en-US" altLang="en-US" sz="1800"/>
              <a:t>PDF Parser, OCR, Speech-to-Text, Text-to-Speech, IBM Cloud Object Storage, IBM Watson Discovery.</a:t>
            </a:r>
            <a:endParaRPr lang="en-US" altLang="en-US" sz="1800"/>
          </a:p>
          <a:p>
            <a:pPr marL="285750" indent="-285750">
              <a:buFont typeface="Arial" panose="020B0604020202020204" pitchFamily="34" charset="0"/>
              <a:buChar char="•"/>
            </a:pPr>
            <a:endParaRPr lang="en-US" altLang="en-US" sz="1800"/>
          </a:p>
          <a:p>
            <a:endParaRPr lang="en-US"/>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err="1">
                <a:sym typeface="Times New Roman" panose="02020603050405020304"/>
              </a:rPr>
              <a:t>Langflow</a:t>
            </a:r>
            <a:r>
              <a:rPr lang="en-US" sz="3500" b="1" i="0" u="none" strike="noStrike" cap="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a:sym typeface="Times New Roman" panose="02020603050405020304"/>
              </a:rPr>
              <a:t>component Used -</a:t>
            </a:r>
            <a:endParaRPr sz="2400" b="1">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4399915"/>
          </a:xfrm>
          <a:prstGeom prst="rect">
            <a:avLst/>
          </a:prstGeom>
          <a:noFill/>
        </p:spPr>
        <p:txBody>
          <a:bodyPr wrap="square" rtlCol="0">
            <a:spAutoFit/>
          </a:bodyPr>
          <a:lstStyle/>
          <a:p>
            <a:endParaRPr lang="en-US"/>
          </a:p>
          <a:p>
            <a:r>
              <a:rPr lang="en-US" b="1"/>
              <a:t>1) Chat Input </a:t>
            </a:r>
            <a:r>
              <a:rPr lang="en-US"/>
              <a:t>– </a:t>
            </a:r>
            <a:r>
              <a:rPr lang="en-US" altLang="en-US"/>
              <a:t>Accepts user questions and uploaded content</a:t>
            </a:r>
            <a:endParaRPr lang="en-US" altLang="en-US"/>
          </a:p>
          <a:p>
            <a:endParaRPr lang="en-US" altLang="en-US"/>
          </a:p>
          <a:p>
            <a:r>
              <a:rPr lang="en-US" b="1"/>
              <a:t>2) </a:t>
            </a:r>
            <a:r>
              <a:rPr lang="en-US" altLang="en-US" b="1"/>
              <a:t>Embedding Model</a:t>
            </a:r>
            <a:r>
              <a:rPr lang="en-US" b="1"/>
              <a:t> </a:t>
            </a:r>
            <a:r>
              <a:rPr lang="en-US"/>
              <a:t>- </a:t>
            </a:r>
            <a:r>
              <a:rPr lang="en-US" altLang="en-US"/>
              <a:t>Converts text into embeddings</a:t>
            </a:r>
            <a:endParaRPr lang="en-US" altLang="en-US"/>
          </a:p>
          <a:p>
            <a:endParaRPr lang="en-US" altLang="en-US"/>
          </a:p>
          <a:p>
            <a:r>
              <a:rPr lang="en-US" b="1"/>
              <a:t>3) Name of IBM Granite model - </a:t>
            </a:r>
            <a:r>
              <a:rPr lang="en-US"/>
              <a:t>Granite-4.0-8B-Instruct → Fast, efficient for real-time diet recommendations</a:t>
            </a:r>
            <a:endParaRPr lang="en-US"/>
          </a:p>
          <a:p>
            <a:endParaRPr lang="en-US"/>
          </a:p>
          <a:p>
            <a:r>
              <a:rPr lang="en-US" b="1"/>
              <a:t>4) Chat output -</a:t>
            </a:r>
            <a:r>
              <a:rPr lang="en-US" altLang="en-US"/>
              <a:t>Displays generated study materials</a:t>
            </a:r>
            <a:endParaRPr lang="en-US" altLang="en-US"/>
          </a:p>
          <a:p>
            <a:endParaRPr lang="en-US" altLang="en-US" b="1"/>
          </a:p>
          <a:p>
            <a:r>
              <a:rPr lang="en-US" b="1"/>
              <a:t>5) File component - </a:t>
            </a:r>
            <a:r>
              <a:rPr lang="en-US"/>
              <a:t>Stores and retrieves user data, meal logs, and nutritional datasets for analysis and tracking.</a:t>
            </a:r>
            <a:endParaRPr lang="en-US">
              <a:highlight>
                <a:srgbClr val="FFFF00"/>
              </a:highlight>
            </a:endParaRPr>
          </a:p>
          <a:p>
            <a:endParaRPr lang="en-US"/>
          </a:p>
          <a:p>
            <a:r>
              <a:rPr lang="en-US"/>
              <a:t>6) </a:t>
            </a:r>
            <a:r>
              <a:rPr lang="en-US" altLang="en-US" b="1"/>
              <a:t>Output Parser - </a:t>
            </a:r>
            <a:r>
              <a:rPr lang="en-US" altLang="en-US"/>
              <a:t>Formats responses</a:t>
            </a:r>
            <a:endParaRPr lang="en-US" altLang="en-US"/>
          </a:p>
          <a:p>
            <a:endParaRPr lang="en-US"/>
          </a:p>
          <a:p>
            <a:endParaRPr lang="en-US"/>
          </a:p>
          <a:p>
            <a:endParaRPr lang="en-US"/>
          </a:p>
          <a:p>
            <a:endParaRPr lang="en-US"/>
          </a:p>
          <a:p>
            <a:endParaRPr lang="en-US"/>
          </a:p>
          <a:p>
            <a:endParaRPr lang="en-US"/>
          </a:p>
          <a:p>
            <a:r>
              <a:rPr lang="en-US"/>
              <a:t> </a:t>
            </a: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err="1">
                <a:sym typeface="Times New Roman" panose="02020603050405020304"/>
              </a:rPr>
              <a:t>Screenshot of agent</a:t>
            </a:r>
            <a:r>
              <a:rPr lang="en-US" sz="2400" b="1">
                <a:sym typeface="Times New Roman" panose="02020603050405020304"/>
              </a:rPr>
              <a:t> -</a:t>
            </a:r>
            <a:endParaRPr sz="2400" b="1">
              <a:sym typeface="Times New Roman" panose="02020603050405020304"/>
            </a:endParaRPr>
          </a:p>
        </p:txBody>
      </p:sp>
      <p:pic>
        <p:nvPicPr>
          <p:cNvPr id="3" name="Picture 2" descr="Screenshot 2026-07-18 115001"/>
          <p:cNvPicPr>
            <a:picLocks noChangeAspect="1"/>
          </p:cNvPicPr>
          <p:nvPr/>
        </p:nvPicPr>
        <p:blipFill>
          <a:blip r:embed="rId1"/>
          <a:stretch>
            <a:fillRect/>
          </a:stretch>
        </p:blipFill>
        <p:spPr>
          <a:xfrm>
            <a:off x="1371600" y="1371600"/>
            <a:ext cx="9753600" cy="46196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p:cNvSpPr txBox="1"/>
          <p:nvPr/>
        </p:nvSpPr>
        <p:spPr>
          <a:xfrm>
            <a:off x="621792" y="1167493"/>
            <a:ext cx="7406640" cy="5262245"/>
          </a:xfrm>
          <a:prstGeom prst="rect">
            <a:avLst/>
          </a:prstGeom>
          <a:noFill/>
        </p:spPr>
        <p:txBody>
          <a:bodyPr wrap="square" rtlCol="0">
            <a:spAutoFit/>
          </a:bodyPr>
          <a:lstStyle/>
          <a:p>
            <a:r>
              <a:rPr lang="en-US" b="1"/>
              <a:t>Role of Agentic AI in Smart Study Generator Agent</a:t>
            </a:r>
            <a:endParaRPr lang="en-US" b="1"/>
          </a:p>
          <a:p>
            <a:endParaRPr lang="en-US" altLang="en-US" b="1"/>
          </a:p>
          <a:p>
            <a:r>
              <a:rPr lang="en-US" altLang="en-US"/>
              <a:t>The proposed solution uses an Agentic AI architecture rather than a simple question-answering chatbot.</a:t>
            </a:r>
            <a:endParaRPr lang="en-US" altLang="en-US"/>
          </a:p>
          <a:p>
            <a:endParaRPr lang="en-US" altLang="en-US"/>
          </a:p>
          <a:p>
            <a:r>
              <a:rPr lang="en-US" altLang="en-US"/>
              <a:t>The agent performs autonomous reasoning and planning.</a:t>
            </a:r>
            <a:endParaRPr lang="en-US" altLang="en-US"/>
          </a:p>
          <a:p>
            <a:endParaRPr lang="en-US" altLang="en-US"/>
          </a:p>
          <a:p>
            <a:r>
              <a:rPr lang="en-US" altLang="en-US"/>
              <a:t>Responsibilities of the Agent :</a:t>
            </a:r>
            <a:endParaRPr lang="en-US" altLang="en-US"/>
          </a:p>
          <a:p>
            <a:pPr marL="285750" indent="-285750">
              <a:buFont typeface="Wingdings" panose="05000000000000000000" charset="0"/>
              <a:buChar char="Ø"/>
            </a:pPr>
            <a:r>
              <a:rPr lang="en-US" altLang="en-US"/>
              <a:t>Goal Understanding</a:t>
            </a:r>
            <a:endParaRPr lang="en-US" altLang="en-US"/>
          </a:p>
          <a:p>
            <a:endParaRPr lang="en-US" altLang="en-US"/>
          </a:p>
          <a:p>
            <a:r>
              <a:rPr lang="en-US" altLang="en-US"/>
              <a:t>The agent understands the student's objective.</a:t>
            </a:r>
            <a:endParaRPr lang="en-US" altLang="en-US"/>
          </a:p>
          <a:p>
            <a:endParaRPr lang="en-US" altLang="en-US"/>
          </a:p>
          <a:p>
            <a:r>
              <a:rPr lang="en-US" altLang="en-US"/>
              <a:t>Example:</a:t>
            </a:r>
            <a:endParaRPr lang="en-US" altLang="en-US"/>
          </a:p>
          <a:p>
            <a:r>
              <a:rPr lang="en-US" altLang="en-US"/>
              <a:t>"Prepare me for tomorrow's Operating Systems exam."</a:t>
            </a:r>
            <a:endParaRPr lang="en-US" altLang="en-US"/>
          </a:p>
          <a:p>
            <a:endParaRPr lang="en-US" altLang="en-US"/>
          </a:p>
          <a:p>
            <a:r>
              <a:rPr lang="en-US" altLang="en-US"/>
              <a:t>The agent determines:</a:t>
            </a:r>
            <a:endParaRPr lang="en-US" altLang="en-US"/>
          </a:p>
          <a:p>
            <a:endParaRPr lang="en-US" altLang="en-US"/>
          </a:p>
          <a:p>
            <a:pPr marL="285750" indent="-285750">
              <a:buFont typeface="Arial" panose="020B0604020202020204" pitchFamily="34" charset="0"/>
              <a:buChar char="•"/>
            </a:pPr>
            <a:r>
              <a:rPr lang="en-US" altLang="en-US"/>
              <a:t>important chapters</a:t>
            </a:r>
            <a:endParaRPr lang="en-US" altLang="en-US"/>
          </a:p>
          <a:p>
            <a:pPr marL="285750" indent="-285750">
              <a:buFont typeface="Arial" panose="020B0604020202020204" pitchFamily="34" charset="0"/>
              <a:buChar char="•"/>
            </a:pPr>
            <a:r>
              <a:rPr lang="en-US" altLang="en-US"/>
              <a:t>revision strategy</a:t>
            </a:r>
            <a:endParaRPr lang="en-US" altLang="en-US"/>
          </a:p>
          <a:p>
            <a:pPr marL="285750" indent="-285750">
              <a:buFont typeface="Arial" panose="020B0604020202020204" pitchFamily="34" charset="0"/>
              <a:buChar char="•"/>
            </a:pPr>
            <a:r>
              <a:rPr lang="en-US" altLang="en-US"/>
              <a:t>practice questions</a:t>
            </a:r>
            <a:endParaRPr lang="en-US" altLang="en-US"/>
          </a:p>
          <a:p>
            <a:pPr marL="285750" indent="-285750">
              <a:buFont typeface="Arial" panose="020B0604020202020204" pitchFamily="34" charset="0"/>
              <a:buChar char="•"/>
            </a:pPr>
            <a:r>
              <a:rPr lang="en-US" altLang="en-US"/>
              <a:t>expected exam pattern</a:t>
            </a:r>
            <a:endParaRPr lang="en-US" altLang="en-US"/>
          </a:p>
          <a:p>
            <a:pPr marL="285750" indent="-285750">
              <a:buFont typeface="Arial" panose="020B0604020202020204" pitchFamily="34" charset="0"/>
              <a:buChar char="•"/>
            </a:pPr>
            <a:endParaRPr lang="en-US" altLang="en-US"/>
          </a:p>
          <a:p>
            <a:pPr marL="0" indent="0">
              <a:buNone/>
            </a:pPr>
            <a:r>
              <a:rPr lang="en-US" altLang="en-US"/>
              <a:t>Other responsibilities are Task Planning, Tool selection, Context Management, Decision Making</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p:cNvSpPr txBox="1"/>
          <p:nvPr/>
        </p:nvSpPr>
        <p:spPr>
          <a:xfrm>
            <a:off x="777240" y="1207008"/>
            <a:ext cx="11301984" cy="5477510"/>
          </a:xfrm>
          <a:prstGeom prst="rect">
            <a:avLst/>
          </a:prstGeom>
          <a:noFill/>
        </p:spPr>
        <p:txBody>
          <a:bodyPr wrap="square" rtlCol="0">
            <a:spAutoFit/>
          </a:bodyPr>
          <a:lstStyle/>
          <a:p>
            <a:r>
              <a:rPr lang="en-US" altLang="en-US"/>
              <a:t>The Smart Study Generator Agent offers several innovative features that distinguish it from conventional AI learning tools.</a:t>
            </a:r>
            <a:endParaRPr lang="en-US" altLang="en-US"/>
          </a:p>
          <a:p>
            <a:endParaRPr lang="en-US" altLang="en-US"/>
          </a:p>
          <a:p>
            <a:r>
              <a:rPr lang="en-US" altLang="en-US"/>
              <a:t>Generates learning content based on:</a:t>
            </a:r>
            <a:endParaRPr lang="en-US" altLang="en-US"/>
          </a:p>
          <a:p>
            <a:endParaRPr lang="en-US" altLang="en-US"/>
          </a:p>
          <a:p>
            <a:pPr marL="285750" indent="-285750">
              <a:buFont typeface="Wingdings" panose="05000000000000000000" charset="0"/>
              <a:buChar char="Ø"/>
            </a:pPr>
            <a:r>
              <a:rPr lang="en-US" altLang="en-US"/>
              <a:t>learner level</a:t>
            </a:r>
            <a:endParaRPr lang="en-US" altLang="en-US"/>
          </a:p>
          <a:p>
            <a:pPr marL="285750" indent="-285750">
              <a:buFont typeface="Wingdings" panose="05000000000000000000" charset="0"/>
              <a:buChar char="Ø"/>
            </a:pPr>
            <a:r>
              <a:rPr lang="en-US" altLang="en-US"/>
              <a:t>uploaded notes</a:t>
            </a:r>
            <a:endParaRPr lang="en-US" altLang="en-US"/>
          </a:p>
          <a:p>
            <a:pPr marL="285750" indent="-285750">
              <a:buFont typeface="Wingdings" panose="05000000000000000000" charset="0"/>
              <a:buChar char="Ø"/>
            </a:pPr>
            <a:r>
              <a:rPr lang="en-US" altLang="en-US"/>
              <a:t>specific syllabus</a:t>
            </a:r>
            <a:endParaRPr lang="en-US" altLang="en-US"/>
          </a:p>
          <a:p>
            <a:pPr marL="285750" indent="-285750">
              <a:buFont typeface="Wingdings" panose="05000000000000000000" charset="0"/>
              <a:buChar char="Ø"/>
            </a:pPr>
            <a:r>
              <a:rPr lang="en-US" altLang="en-US"/>
              <a:t>examination pattern</a:t>
            </a:r>
            <a:endParaRPr lang="en-US" altLang="en-US"/>
          </a:p>
          <a:p>
            <a:pPr marL="285750" indent="-285750">
              <a:buFont typeface="Wingdings" panose="05000000000000000000" charset="0"/>
              <a:buChar char="Ø"/>
            </a:pPr>
            <a:endParaRPr lang="en-US" altLang="en-US"/>
          </a:p>
          <a:p>
            <a:pPr marL="285750" indent="-285750">
              <a:buFont typeface="Arial" panose="020B0604020202020204" pitchFamily="34" charset="0"/>
              <a:buChar char="•"/>
            </a:pPr>
            <a:r>
              <a:rPr lang="en-US" altLang="en-US"/>
              <a:t>Agent-Based Planning</a:t>
            </a:r>
            <a:endParaRPr lang="en-US" altLang="en-US"/>
          </a:p>
          <a:p>
            <a:endParaRPr lang="en-US" altLang="en-US"/>
          </a:p>
          <a:p>
            <a:r>
              <a:rPr lang="en-US" altLang="en-US"/>
              <a:t>Unlike static AI chatbots, the system autonomously plans study tasks and executes them in an organized sequence.</a:t>
            </a:r>
            <a:endParaRPr lang="en-US" altLang="en-US"/>
          </a:p>
          <a:p>
            <a:endParaRPr lang="en-US" altLang="en-US"/>
          </a:p>
          <a:p>
            <a:pPr marL="285750" indent="-285750">
              <a:buFont typeface="Arial" panose="020B0604020202020204" pitchFamily="34" charset="0"/>
              <a:buChar char="•"/>
            </a:pPr>
            <a:r>
              <a:rPr lang="en-US" altLang="en-US"/>
              <a:t>Visual Low-Code Development</a:t>
            </a:r>
            <a:endParaRPr lang="en-US" altLang="en-US"/>
          </a:p>
          <a:p>
            <a:endParaRPr lang="en-US" altLang="en-US"/>
          </a:p>
          <a:p>
            <a:r>
              <a:rPr lang="en-US" altLang="en-US"/>
              <a:t>Using Langflow and IBM BOB enables rapid development, easier maintenance, and extensibility without extensive coding.</a:t>
            </a:r>
            <a:endParaRPr lang="en-US" altLang="en-US"/>
          </a:p>
          <a:p>
            <a:endParaRPr lang="en-US" altLang="en-US"/>
          </a:p>
          <a:p>
            <a:pPr marL="285750" indent="-285750">
              <a:buFont typeface="Arial" panose="020B0604020202020204" pitchFamily="34" charset="0"/>
              <a:buChar char="•"/>
            </a:pPr>
            <a:r>
              <a:rPr lang="en-US" altLang="en-US"/>
              <a:t>Adaptive Learning</a:t>
            </a:r>
            <a:endParaRPr lang="en-US" altLang="en-US"/>
          </a:p>
          <a:p>
            <a:endParaRPr lang="en-US" altLang="en-US"/>
          </a:p>
          <a:p>
            <a:r>
              <a:rPr lang="en-US" altLang="en-US"/>
              <a:t>The agent customizes explanations and assessments according to the learner's proficiency and study goals.</a:t>
            </a:r>
            <a:endParaRPr lang="en-US" altLang="en-US"/>
          </a:p>
          <a:p>
            <a:endParaRPr lang="en-US" altLang="en-US"/>
          </a:p>
          <a:p>
            <a:pPr marL="285750" indent="-285750">
              <a:buFont typeface="Arial" panose="020B0604020202020204" pitchFamily="34" charset="0"/>
              <a:buChar char="•"/>
            </a:pPr>
            <a:r>
              <a:rPr lang="en-US" altLang="en-US"/>
              <a:t>Continuous Learning Assistance</a:t>
            </a:r>
            <a:endParaRPr lang="en-US" altLang="en-US"/>
          </a:p>
          <a:p>
            <a:endParaRPr lang="en-US" altLang="en-US"/>
          </a:p>
          <a:p>
            <a:r>
              <a:rPr lang="en-US" altLang="en-US"/>
              <a:t>The system supports iterative learning by remembering conversation context and allowing follow-up requests without requiring repeated explanations.</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Git Hub Link</a:t>
            </a:r>
            <a:endParaRPr sz="2400" b="1">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create public </a:t>
            </a:r>
            <a:r>
              <a:rPr lang="en-US" sz="1850" b="0" i="0" u="none" strike="noStrike" cap="none"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endPar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URL – </a:t>
            </a:r>
            <a:r>
              <a:rPr lang="en-US" alt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hlinkClick r:id="rId1" tooltip="" action="ppaction://hlinkfile"/>
              </a:rPr>
              <a:t>https://github.com/Aditya8369/Smart-Study-Generator-Agent</a:t>
            </a:r>
            <a:endParaRPr lang="en-US" alt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a:sym typeface="Times New Roman" panose="02020603050405020304"/>
              </a:rPr>
              <a:t>Future Scope </a:t>
            </a:r>
            <a:endParaRPr sz="2400" b="1">
              <a:sym typeface="Times New Roman" panose="02020603050405020304"/>
            </a:endParaRPr>
          </a:p>
        </p:txBody>
      </p:sp>
      <p:sp>
        <p:nvSpPr>
          <p:cNvPr id="279" name="Google Shape;279;p18"/>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The Smart Study Generator Agent can be expanded with several advanced capabilities.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Voice-Based Learning</a:t>
            </a:r>
            <a:endPar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Support voice interaction for asking questions and receiving spoken explanations.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Multilingual Education</a:t>
            </a:r>
            <a:endPar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Generate study materials in multiple regional and international languages.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AI Tutor Mode</a:t>
            </a:r>
            <a:endPar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Provide step-by-step teaching, hints, and adaptive guidance similar to a personal tutor.</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342900" algn="l" rtl="0">
              <a:lnSpc>
                <a:spcPct val="162000"/>
              </a:lnSpc>
              <a:spcBef>
                <a:spcPts val="0"/>
              </a:spcBef>
              <a:spcAft>
                <a:spcPts val="0"/>
              </a:spcAft>
              <a:buClr>
                <a:srgbClr val="2B3541"/>
              </a:buClr>
              <a:buSzPts val="1850"/>
              <a:buFont typeface="Arial" panose="020B0604020202020204" pitchFamily="34" charset="0"/>
              <a:buChar char="•"/>
            </a:pPr>
            <a:r>
              <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Offline Mobile Application</a:t>
            </a:r>
            <a:endParaRPr lang="en-US" altLang="en-US" sz="1850" b="1"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Develop Android and iOS applications with offline access to downloaded study materials and quizzes.</a:t>
            </a:r>
            <a:endParaRPr lang="en-US" altLang="en-US"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a:t>Certificates Earned:</a:t>
            </a:r>
            <a:endParaRPr lang="en-US" sz="2400" b="1"/>
          </a:p>
          <a:p>
            <a:pPr algn="ctr"/>
            <a:endParaRPr lang="en-US"/>
          </a:p>
        </p:txBody>
      </p:sp>
      <p:sp>
        <p:nvSpPr>
          <p:cNvPr id="3" name="TextBox 2"/>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800" b="1"/>
              <a:t>Please  add your credly certificate </a:t>
            </a:r>
            <a:endParaRPr lang="en-US" sz="2800" b="1"/>
          </a:p>
        </p:txBody>
      </p:sp>
      <p:pic>
        <p:nvPicPr>
          <p:cNvPr id="2" name="Picture 1" descr="Screenshot 2026-07-17 193929"/>
          <p:cNvPicPr>
            <a:picLocks noChangeAspect="1"/>
          </p:cNvPicPr>
          <p:nvPr/>
        </p:nvPicPr>
        <p:blipFill>
          <a:blip r:embed="rId1"/>
          <a:stretch>
            <a:fillRect/>
          </a:stretch>
        </p:blipFill>
        <p:spPr>
          <a:xfrm>
            <a:off x="2166620" y="1376045"/>
            <a:ext cx="7858125" cy="51695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400" b="1" i="0" u="none" strike="noStrike" baseline="0">
                <a:solidFill>
                  <a:srgbClr val="000000"/>
                </a:solidFill>
                <a:latin typeface="Arial" panose="020B0604020202020204"/>
              </a:rPr>
              <a:t>Certificates Earned:</a:t>
            </a:r>
            <a:r>
              <a:rPr sz="2400" b="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6" name="TextBox 5"/>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2000" b="1"/>
              <a:t>Add your IBM BOB Certificate</a:t>
            </a:r>
            <a:endParaRPr lang="en-US" sz="2000" b="1"/>
          </a:p>
        </p:txBody>
      </p:sp>
      <p:pic>
        <p:nvPicPr>
          <p:cNvPr id="2" name="Picture 1" descr="Screenshot 2026-07-17 193800"/>
          <p:cNvPicPr>
            <a:picLocks noChangeAspect="1"/>
          </p:cNvPicPr>
          <p:nvPr/>
        </p:nvPicPr>
        <p:blipFill>
          <a:blip r:embed="rId1"/>
          <a:stretch>
            <a:fillRect/>
          </a:stretch>
        </p:blipFill>
        <p:spPr>
          <a:xfrm>
            <a:off x="2133600" y="1447800"/>
            <a:ext cx="8105775" cy="5010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6050</Words>
  <Application>WPS Presentation</Application>
  <PresentationFormat>Widescreen</PresentationFormat>
  <Paragraphs>189</Paragraphs>
  <Slides>14</Slides>
  <Notes>13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Arial</vt:lpstr>
      <vt:lpstr>SimSun</vt:lpstr>
      <vt:lpstr>Wingdings</vt:lpstr>
      <vt:lpstr>Arial</vt:lpstr>
      <vt:lpstr>Calibri</vt:lpstr>
      <vt:lpstr>Times New Roman</vt:lpstr>
      <vt:lpstr>Microsoft YaHei</vt:lpstr>
      <vt:lpstr>Arial Unicode MS</vt:lpstr>
      <vt:lpstr>Wingdings</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Aditya Mahajan</cp:lastModifiedBy>
  <cp:revision>34</cp:revision>
  <dcterms:created xsi:type="dcterms:W3CDTF">2025-07-08T05:06:00Z</dcterms:created>
  <dcterms:modified xsi:type="dcterms:W3CDTF">2026-07-18T06:29:35Z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742AD31023794BCEAEE09E7FF395F02E_12</vt:lpwstr>
  </property>
  <property fmtid="{D5CDD505-2E9C-101B-9397-08002B2CF9AE}" pid="3" name="KSOProductBuildVer">
    <vt:lpwstr>1033-12.1.0.26880</vt:lpwstr>
  </property>
</Properties>
</file>